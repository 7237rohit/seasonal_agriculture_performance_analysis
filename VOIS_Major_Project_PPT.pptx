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586" y="51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7237Rohit/Seasonal_Agriculture_Performance_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97968" y="3529639"/>
            <a:ext cx="7224250" cy="86149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0" dirty="0" smtClean="0">
                <a:solidFill>
                  <a:schemeClr val="tx1"/>
                </a:solidFill>
              </a:rPr>
              <a:t>Student </a:t>
            </a:r>
            <a:r>
              <a:rPr lang="en-US" b="0" dirty="0">
                <a:solidFill>
                  <a:schemeClr val="tx1"/>
                </a:solidFill>
              </a:rPr>
              <a:t>Name </a:t>
            </a:r>
            <a:r>
              <a:rPr lang="en-US" b="0" dirty="0" smtClean="0">
                <a:solidFill>
                  <a:schemeClr val="tx1"/>
                </a:solidFill>
              </a:rPr>
              <a:t>– </a:t>
            </a:r>
            <a:r>
              <a:rPr lang="en-US" b="0" dirty="0" err="1" smtClean="0">
                <a:solidFill>
                  <a:schemeClr val="tx1"/>
                </a:solidFill>
              </a:rPr>
              <a:t>Rohit</a:t>
            </a:r>
            <a:r>
              <a:rPr lang="en-US" b="0" dirty="0" smtClean="0">
                <a:solidFill>
                  <a:schemeClr val="tx1"/>
                </a:solidFill>
              </a:rPr>
              <a:t> </a:t>
            </a:r>
            <a:r>
              <a:rPr lang="en-US" b="0" dirty="0" err="1" smtClean="0">
                <a:solidFill>
                  <a:schemeClr val="tx1"/>
                </a:solidFill>
              </a:rPr>
              <a:t>Medishetti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</a:t>
            </a:r>
            <a:r>
              <a:rPr lang="en-US" b="0" dirty="0" smtClean="0">
                <a:solidFill>
                  <a:schemeClr val="tx1"/>
                </a:solidFill>
              </a:rPr>
              <a:t>Name – Methodist College of Engineering and Technology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751" y="2788996"/>
            <a:ext cx="10534168" cy="810748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Project Title </a:t>
            </a:r>
            <a:r>
              <a:rPr lang="en-GB" sz="3200" dirty="0" smtClean="0"/>
              <a:t>– Seasonal </a:t>
            </a:r>
            <a:r>
              <a:rPr lang="en-GB" sz="3200" dirty="0"/>
              <a:t>A</a:t>
            </a:r>
            <a:r>
              <a:rPr lang="en-GB" sz="3200" dirty="0" smtClean="0"/>
              <a:t>griculture </a:t>
            </a:r>
            <a:r>
              <a:rPr lang="en-GB" sz="3200" dirty="0"/>
              <a:t>P</a:t>
            </a:r>
            <a:r>
              <a:rPr lang="en-GB" sz="3200" dirty="0" smtClean="0"/>
              <a:t>erformance </a:t>
            </a:r>
            <a:r>
              <a:rPr lang="en-GB" sz="3200" dirty="0"/>
              <a:t>A</a:t>
            </a:r>
            <a:r>
              <a:rPr lang="en-GB" sz="3200" dirty="0" smtClean="0"/>
              <a:t>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3316316" y="4511224"/>
            <a:ext cx="5387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STU6a6c93fde0e6e1785500669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896496"/>
            <a:ext cx="8572745" cy="379930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  <a:endParaRPr lang="en-US" dirty="0" smtClean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 smtClean="0"/>
              <a:t>However</a:t>
            </a:r>
            <a:r>
              <a:rPr lang="en-US" dirty="0"/>
              <a:t>, raw agricultural data does not clearly explain how agricultural performance changes across seasons or what patterns can be observed in different seasonal conditions. </a:t>
            </a:r>
            <a:endParaRPr lang="en-US" dirty="0" smtClean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 smtClean="0"/>
              <a:t>The </a:t>
            </a:r>
            <a:r>
              <a:rPr lang="en-US" dirty="0"/>
              <a:t>problem is to analyze the given agricultural dataset and investigate seasonal differences in agricultural performance by identifying meaningful patterns, trends, relationships and variations within the available data. 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820235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44" y="3514639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996405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60399" y="2123187"/>
            <a:ext cx="1096079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 smtClean="0"/>
              <a:t>Seasonal </a:t>
            </a:r>
            <a:r>
              <a:rPr lang="en-US" sz="2000" b="1" dirty="0"/>
              <a:t>Agriculture Performance Analysis Using Data Analytics</a:t>
            </a:r>
            <a:r>
              <a:rPr lang="en-US" sz="2000" dirty="0"/>
              <a:t> is a data analytics project that studies agricultural performance across different crops, seasons, and regions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project analyzes factors such as </a:t>
            </a:r>
            <a:r>
              <a:rPr lang="en-US" sz="2000" b="1" dirty="0"/>
              <a:t>rainfall, temperature, soil conditions, irrigation, fertilizers, crop yield, production, market price, cost, profit, water efficiency, and disease/pest risk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Using Python-based data analytics and visualization techniques, the project identifies </a:t>
            </a:r>
            <a:r>
              <a:rPr lang="en-US" sz="2000" b="1" dirty="0"/>
              <a:t>seasonal patterns, crop profitability, resource efficiency, and factors affecting agricultural performance</a:t>
            </a:r>
            <a:r>
              <a:rPr lang="en-US" sz="2000" dirty="0"/>
              <a:t>. The insights obtained can support better crop planning, resource management, and data-driven agricultural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9" y="1414773"/>
            <a:ext cx="10046070" cy="802641"/>
          </a:xfrm>
        </p:spPr>
        <p:txBody>
          <a:bodyPr>
            <a:noAutofit/>
          </a:bodyPr>
          <a:lstStyle/>
          <a:p>
            <a:r>
              <a:rPr lang="en-US" sz="4300" dirty="0"/>
              <a:t>WHO ARE THE END USERS?</a:t>
            </a:r>
            <a:endParaRPr lang="en-IN" sz="4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20009" y="2474996"/>
            <a:ext cx="1097624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Farmers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To make better decisions about crop selection, irrigation, fertilizers, and resource usage.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Agricultural Planners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seasonal and regional agricultural performance for planning purposes.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Agricultural Researchers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study relationships between environmental factors, crop yield, profitability, and risks.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Government &amp; Agricultural Departments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To support data-driven agricultural policies and resource allocation.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Agri-Businesses &amp; Consultants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crop profitability, market performance, and resource efficiency. 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439" y="863336"/>
            <a:ext cx="5306291" cy="847817"/>
          </a:xfrm>
        </p:spPr>
        <p:txBody>
          <a:bodyPr>
            <a:normAutofit/>
          </a:bodyPr>
          <a:lstStyle/>
          <a:p>
            <a:r>
              <a:rPr lang="en-US" sz="4300" dirty="0"/>
              <a:t>Technology Used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575576" y="2501576"/>
            <a:ext cx="1135003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smtClean="0">
                <a:latin typeface="Arial" panose="020B0604020202020204" pitchFamily="34" charset="0"/>
              </a:rPr>
              <a:t> Python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Main programming language for data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Data loading, cleaning, manipulation, and aggregation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Numerical computations and statistical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Data visualization and plotting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Statistical visualizations, correlation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heatmaps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boxplots, and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pairplots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Development and execution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Microsoft Excel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Dataset storage and initial data organization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 </a:t>
            </a:r>
            <a:endParaRPr lang="en-IN" sz="43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742" y="1358109"/>
            <a:ext cx="8253464" cy="26823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5957" y="4137005"/>
            <a:ext cx="10862235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900" b="1" dirty="0"/>
              <a:t>Seasonal Agricultural Performance</a:t>
            </a:r>
            <a:endParaRPr lang="en-US" sz="1900" dirty="0"/>
          </a:p>
          <a:p>
            <a:pPr algn="just"/>
            <a:r>
              <a:rPr lang="en-US" sz="1900" dirty="0"/>
              <a:t>This chart compares average profit across the three seasons. </a:t>
            </a:r>
            <a:r>
              <a:rPr lang="en-US" sz="1900" b="1" dirty="0" err="1"/>
              <a:t>Kharif</a:t>
            </a:r>
            <a:r>
              <a:rPr lang="en-US" sz="1900" dirty="0"/>
              <a:t> records the highest average profit (₹1.79L), followed by </a:t>
            </a:r>
            <a:r>
              <a:rPr lang="en-US" sz="1900" b="1" dirty="0"/>
              <a:t>Rabi</a:t>
            </a:r>
            <a:r>
              <a:rPr lang="en-US" sz="1900" dirty="0"/>
              <a:t> (₹0.88L), while </a:t>
            </a:r>
            <a:r>
              <a:rPr lang="en-US" sz="1900" b="1" dirty="0"/>
              <a:t>Zaid</a:t>
            </a:r>
            <a:r>
              <a:rPr lang="en-US" sz="1900" dirty="0"/>
              <a:t> shows a </a:t>
            </a:r>
            <a:r>
              <a:rPr lang="en-US" sz="1900" b="1" dirty="0"/>
              <a:t>net loss</a:t>
            </a:r>
            <a:r>
              <a:rPr lang="en-US" sz="1900" dirty="0"/>
              <a:t> (–₹0.25L) on average. Yield and water efficiency were also assessed but are on a much smaller numeric scale, so they aren't visible in this combined chart — refer to the summary table for those figures</a:t>
            </a:r>
            <a:r>
              <a:rPr lang="en-US" sz="1900" dirty="0" smtClean="0"/>
              <a:t>.</a:t>
            </a:r>
          </a:p>
          <a:p>
            <a:pPr algn="just"/>
            <a:endParaRPr lang="en-US" sz="1900" dirty="0"/>
          </a:p>
          <a:p>
            <a:pPr algn="just"/>
            <a:r>
              <a:rPr lang="en-US" sz="1900" b="1" dirty="0"/>
              <a:t>Key takeaway:</a:t>
            </a:r>
            <a:r>
              <a:rPr lang="en-US" sz="1900" dirty="0"/>
              <a:t> </a:t>
            </a:r>
            <a:r>
              <a:rPr lang="en-US" sz="1900" dirty="0" err="1"/>
              <a:t>Kharif</a:t>
            </a:r>
            <a:r>
              <a:rPr lang="en-US" sz="1900" dirty="0"/>
              <a:t> is the most profitable season, while Zaid consistently underperforms across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 </a:t>
            </a:r>
            <a:endParaRPr lang="en-IN" sz="43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36" y="1275370"/>
            <a:ext cx="3806446" cy="22502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736" y="1268170"/>
            <a:ext cx="3813352" cy="225746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7965" y="3525639"/>
            <a:ext cx="11094930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Sugarcane Dominates Both Yield and Profit</a:t>
            </a:r>
            <a:endParaRPr lang="en-US" dirty="0"/>
          </a:p>
          <a:p>
            <a:pPr algn="just"/>
            <a:r>
              <a:rPr lang="en-US" dirty="0"/>
              <a:t>Sugarcane clearly outperforms all other crops in the dataset, recording the highest average yield (~46.6 </a:t>
            </a:r>
            <a:r>
              <a:rPr lang="en-US" dirty="0" err="1"/>
              <a:t>tonnes</a:t>
            </a:r>
            <a:r>
              <a:rPr lang="en-US" dirty="0"/>
              <a:t>/ha) — nearly 17 times higher than the next-best crop, Maize (~2.7 t/ha). This exceptional yield translates directly into profitability: Sugarcane also leads in average profit (₹8.17 lakh), followed by </a:t>
            </a:r>
            <a:r>
              <a:rPr lang="en-US" dirty="0" err="1"/>
              <a:t>Chilli</a:t>
            </a:r>
            <a:r>
              <a:rPr lang="en-US" dirty="0"/>
              <a:t> (₹7.51 lakh) and Cotton (₹1.25 lakh).</a:t>
            </a:r>
          </a:p>
          <a:p>
            <a:pPr algn="just"/>
            <a:r>
              <a:rPr lang="en-US" dirty="0"/>
              <a:t>Notably, several crops — </a:t>
            </a:r>
            <a:r>
              <a:rPr lang="en-US" b="1" dirty="0"/>
              <a:t>Maize, Rice, and Wheat</a:t>
            </a:r>
            <a:r>
              <a:rPr lang="en-US" dirty="0"/>
              <a:t> — show </a:t>
            </a:r>
            <a:r>
              <a:rPr lang="en-US" b="1" dirty="0"/>
              <a:t>negative average profit</a:t>
            </a:r>
            <a:r>
              <a:rPr lang="en-US" dirty="0"/>
              <a:t>, indicating that production costs exceed revenue for these crops on average across the dataset. Pulses hover near breakeven</a:t>
            </a:r>
            <a:r>
              <a:rPr lang="en-US" dirty="0" smtClean="0"/>
              <a:t>.</a:t>
            </a:r>
          </a:p>
          <a:p>
            <a:pPr algn="just"/>
            <a:endParaRPr lang="en-US" sz="800" dirty="0"/>
          </a:p>
          <a:p>
            <a:pPr algn="just"/>
            <a:r>
              <a:rPr lang="en-US" b="1" dirty="0"/>
              <a:t>Key takeaway:</a:t>
            </a:r>
            <a:r>
              <a:rPr lang="en-US" dirty="0"/>
              <a:t> Crop choice has a major impact on farm profitability. High-yield crops like Sugarcane and </a:t>
            </a:r>
            <a:r>
              <a:rPr lang="en-US" dirty="0" err="1"/>
              <a:t>Chilli</a:t>
            </a:r>
            <a:r>
              <a:rPr lang="en-US" dirty="0"/>
              <a:t> substantially outperform staple grain crops (Wheat, Rice, Maize) in economic returns, despite the latter being more commonly cultivated.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 </a:t>
            </a:r>
            <a:endParaRPr lang="en-IN" sz="43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255" y="2009542"/>
            <a:ext cx="4243804" cy="31681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2954" y="1746947"/>
            <a:ext cx="707150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Water Efficiency Has a Strong Positive Relationship with Yield</a:t>
            </a:r>
            <a:endParaRPr lang="en-US" dirty="0"/>
          </a:p>
          <a:p>
            <a:pPr algn="just"/>
            <a:r>
              <a:rPr lang="en-US" dirty="0"/>
              <a:t>Water efficiency (</a:t>
            </a:r>
            <a:r>
              <a:rPr lang="en-US" dirty="0" err="1"/>
              <a:t>tonnes</a:t>
            </a:r>
            <a:r>
              <a:rPr lang="en-US" dirty="0"/>
              <a:t> of yield per 1000 m³ of water used) shows the strongest correlation with crop yield among all variables analyzed (r = 0.91) — far stronger than raw water volume used (r = 0.39), fertilizer application, or rainfall. This indicates that </a:t>
            </a:r>
            <a:r>
              <a:rPr lang="en-US" b="1" dirty="0"/>
              <a:t>how efficiently water is used matters more to productivity than how much water is applied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Key takeaway:</a:t>
            </a:r>
            <a:r>
              <a:rPr lang="en-US" dirty="0"/>
              <a:t> Farms that convert water into yield more efficiently — regardless of total water volume — consistently achieve higher output. This supports prioritizing water-use efficiency (e.g., through irrigation method choice) over simply increasing water input.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 </a:t>
            </a:r>
            <a:endParaRPr lang="en-IN" sz="43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845" y="1201586"/>
            <a:ext cx="4450714" cy="264720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8149" y="4070431"/>
            <a:ext cx="112586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Rainfed</a:t>
            </a:r>
            <a:r>
              <a:rPr lang="en-US" b="1" dirty="0"/>
              <a:t> Irrigation Is Most Water-Efficient — But Not the Most Productive</a:t>
            </a:r>
            <a:endParaRPr lang="en-US" dirty="0"/>
          </a:p>
          <a:p>
            <a:pPr algn="just"/>
            <a:r>
              <a:rPr lang="en-US" dirty="0" err="1"/>
              <a:t>Rainfed</a:t>
            </a:r>
            <a:r>
              <a:rPr lang="en-US" dirty="0"/>
              <a:t> irrigation achieves the highest water efficiency (~7.6 </a:t>
            </a:r>
            <a:r>
              <a:rPr lang="en-US" dirty="0" err="1"/>
              <a:t>tonnes</a:t>
            </a:r>
            <a:r>
              <a:rPr lang="en-US" dirty="0"/>
              <a:t> per 1000 m³), ahead of Drip (~6.3), Sprinkler (~4.7), and Flood (~3.4). However, this efficiency doesn't translate to output: </a:t>
            </a:r>
            <a:r>
              <a:rPr lang="en-US" dirty="0" err="1"/>
              <a:t>Rainfed</a:t>
            </a:r>
            <a:r>
              <a:rPr lang="en-US" dirty="0"/>
              <a:t> farms record the </a:t>
            </a:r>
            <a:r>
              <a:rPr lang="en-US" b="1" dirty="0"/>
              <a:t>lowest average yield (4.60 t/ha)</a:t>
            </a:r>
            <a:r>
              <a:rPr lang="en-US" dirty="0"/>
              <a:t> and </a:t>
            </a:r>
            <a:r>
              <a:rPr lang="en-US" b="1" dirty="0"/>
              <a:t>lowest average profit (₹79,050)</a:t>
            </a:r>
            <a:r>
              <a:rPr lang="en-US" dirty="0"/>
              <a:t> among all irrigation methods — well behind Drip, which delivers both higher yield (6.58 t/ha) and higher profit (₹2,19,626</a:t>
            </a:r>
            <a:r>
              <a:rPr lang="en-US" dirty="0" smtClean="0"/>
              <a:t>).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Key takeaway:</a:t>
            </a:r>
            <a:r>
              <a:rPr lang="en-US" dirty="0"/>
              <a:t> Water efficiency and productivity don't always align — Drip irrigation offers the better overall balance of resource efficiency and output.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 </a:t>
            </a:r>
            <a:endParaRPr lang="en-IN" sz="43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554" y="1201586"/>
            <a:ext cx="4085860" cy="30331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5956" y="4272677"/>
            <a:ext cx="111696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Fertilizer Usage Shows No Measurable Relationship with Yield</a:t>
            </a:r>
            <a:endParaRPr lang="en-US" dirty="0"/>
          </a:p>
          <a:p>
            <a:pPr algn="just"/>
            <a:r>
              <a:rPr lang="en-US" dirty="0"/>
              <a:t>Fertilizer application shows virtually no correlation with crop yield (r ≈ 0.00) — yield varies widely, from near 0 to over 90 </a:t>
            </a:r>
            <a:r>
              <a:rPr lang="en-US" dirty="0" err="1"/>
              <a:t>tonnes</a:t>
            </a:r>
            <a:r>
              <a:rPr lang="en-US" dirty="0"/>
              <a:t>/ha, regardless of how much fertilizer is applied, across the full observed range of 40–400 kg/ha. Even within similar fertilizer levels, yields differ by 80+ </a:t>
            </a:r>
            <a:r>
              <a:rPr lang="en-US" dirty="0" err="1"/>
              <a:t>tonnes</a:t>
            </a:r>
            <a:r>
              <a:rPr lang="en-US" dirty="0"/>
              <a:t>/ha, showing that fertilizer amount alone does not explain productivity differences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Key takeaway:</a:t>
            </a:r>
            <a:r>
              <a:rPr lang="en-US" dirty="0"/>
              <a:t> Fertilizer input is not a limiting factor for yield in </a:t>
            </a:r>
            <a:r>
              <a:rPr lang="en-US" dirty="0" smtClean="0"/>
              <a:t>this </a:t>
            </a:r>
            <a:r>
              <a:rPr lang="en-US" dirty="0"/>
              <a:t>dataset — factors like water efficiency and crop type have a far stronger influence on productivity than fertilizer application levels.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20504"/>
            <a:ext cx="4735798" cy="830997"/>
          </a:xfrm>
        </p:spPr>
        <p:txBody>
          <a:bodyPr>
            <a:normAutofit/>
          </a:bodyPr>
          <a:lstStyle/>
          <a:p>
            <a:r>
              <a:rPr lang="en-IN" sz="43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675957" y="1557220"/>
            <a:ext cx="1034570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The project can be further enhanced by integrating real-time agricultural and environmental data from weather stations, </a:t>
            </a:r>
            <a:r>
              <a:rPr lang="en-US" sz="2000" dirty="0" err="1"/>
              <a:t>IoT</a:t>
            </a:r>
            <a:r>
              <a:rPr lang="en-US" sz="2000" dirty="0"/>
              <a:t> sensors, and other reliable data sources. This would allow the analysis to provide more up-to-date information about soil moisture, rainfall, temperature, irrigation, and crop conditions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Future improvements can also include developing machine learning models to predict crop yield, profitability, and disease or pest risk based on historical and environmental data. A recommendation system could be developed to suggest suitable crops, irrigation methods, and resource usage for specific regions and seasons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project can further be developed into an interactive web or mobile dashboard where farmers and agricultural planners can view seasonal performance, compare crops, monitor resource efficiency, and make data-driven decisions. Integration of satellite imagery, soil data, market-price trends, and location-based information could make the system more comprehensive and useful for practical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46499"/>
            <a:ext cx="4735798" cy="830997"/>
          </a:xfrm>
        </p:spPr>
        <p:txBody>
          <a:bodyPr>
            <a:normAutofit/>
          </a:bodyPr>
          <a:lstStyle/>
          <a:p>
            <a:r>
              <a:rPr lang="en-IN" sz="43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675957" y="3638094"/>
            <a:ext cx="89845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https://github.com/7237Rohit/Seasonal_Agriculture_Performance_Analysis.git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314" y="474880"/>
            <a:ext cx="6367017" cy="758361"/>
          </a:xfrm>
        </p:spPr>
        <p:txBody>
          <a:bodyPr>
            <a:normAutofit/>
          </a:bodyPr>
          <a:lstStyle/>
          <a:p>
            <a:r>
              <a:rPr lang="en-IN" sz="2800" dirty="0"/>
              <a:t>VOIS Course completion </a:t>
            </a:r>
            <a:r>
              <a:rPr lang="en-IN" sz="2800" dirty="0" smtClean="0"/>
              <a:t>certificate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550314" y="914808"/>
            <a:ext cx="57069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+mj-lt"/>
                <a:ea typeface="+mj-ea"/>
                <a:cs typeface="+mj-cs"/>
              </a:rPr>
              <a:t>Course name- Data Visualization </a:t>
            </a:r>
            <a:endParaRPr lang="en-US" sz="28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949" y="1673169"/>
            <a:ext cx="6918860" cy="489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32380"/>
            <a:ext cx="11558675" cy="250954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72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1537</TotalTime>
  <Words>1167</Words>
  <Application>Microsoft Office PowerPoint</Application>
  <PresentationFormat>Widescreen</PresentationFormat>
  <Paragraphs>68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–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COMP25823</cp:lastModifiedBy>
  <cp:revision>113</cp:revision>
  <dcterms:created xsi:type="dcterms:W3CDTF">2021-07-11T13:13:15Z</dcterms:created>
  <dcterms:modified xsi:type="dcterms:W3CDTF">2026-09-10T12:09:02Z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